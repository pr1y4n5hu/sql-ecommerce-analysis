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926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88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96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50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12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62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7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14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13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78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044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1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8499" y="190500"/>
            <a:ext cx="6353175" cy="2669570"/>
          </a:xfrm>
        </p:spPr>
        <p:txBody>
          <a:bodyPr>
            <a:normAutofit/>
          </a:bodyPr>
          <a:lstStyle/>
          <a:p>
            <a:pPr algn="ctr"/>
            <a:r>
              <a:rPr sz="4000" dirty="0"/>
              <a:t>E-Commerce Sales &amp; Customer Analytics</a:t>
            </a:r>
          </a:p>
          <a:p>
            <a:pPr algn="ctr"/>
            <a:r>
              <a:rPr sz="2400" dirty="0"/>
              <a:t>(SQL Case Study)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72719" y="3076575"/>
            <a:ext cx="4852206" cy="704849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dirty="0"/>
              <a:t>Driving business decisions using data-driven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9ABF4-7329-4753-9BC1-5DF607F8DF09}"/>
              </a:ext>
            </a:extLst>
          </p:cNvPr>
          <p:cNvSpPr txBox="1"/>
          <p:nvPr/>
        </p:nvSpPr>
        <p:spPr>
          <a:xfrm>
            <a:off x="4462462" y="5181600"/>
            <a:ext cx="336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Priyanshu Kamal</a:t>
            </a:r>
          </a:p>
          <a:p>
            <a:r>
              <a:rPr lang="en-US" dirty="0"/>
              <a:t>callmepriyanshu4@gmail.com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691" y="1185520"/>
            <a:ext cx="6571343" cy="1049235"/>
          </a:xfrm>
        </p:spPr>
        <p:txBody>
          <a:bodyPr>
            <a:normAutofit/>
          </a:bodyPr>
          <a:lstStyle/>
          <a:p>
            <a:r>
              <a:rPr sz="4000" dirty="0"/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7" y="2339583"/>
            <a:ext cx="6571343" cy="3450613"/>
          </a:xfrm>
        </p:spPr>
        <p:txBody>
          <a:bodyPr>
            <a:normAutofit fontScale="92500" lnSpcReduction="10000"/>
          </a:bodyPr>
          <a:lstStyle/>
          <a:p>
            <a:r>
              <a:rPr sz="2800" dirty="0"/>
              <a:t>Analyze e-commerce data to support strategic decision-making</a:t>
            </a:r>
          </a:p>
          <a:p>
            <a:r>
              <a:rPr sz="2800" dirty="0"/>
              <a:t>Focus areas: Customer Insights, Product Performance, Sales Optimization, Inventory Management</a:t>
            </a:r>
          </a:p>
          <a:p>
            <a:r>
              <a:rPr sz="2800" dirty="0"/>
              <a:t>Objective: Convert raw data into actionable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6066" y="1015074"/>
            <a:ext cx="6571343" cy="1049235"/>
          </a:xfrm>
        </p:spPr>
        <p:txBody>
          <a:bodyPr>
            <a:normAutofit/>
          </a:bodyPr>
          <a:lstStyle/>
          <a:p>
            <a:r>
              <a:rPr sz="4000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3616" y="2387208"/>
            <a:ext cx="6571343" cy="3450613"/>
          </a:xfrm>
        </p:spPr>
        <p:txBody>
          <a:bodyPr>
            <a:normAutofit fontScale="92500"/>
          </a:bodyPr>
          <a:lstStyle/>
          <a:p>
            <a:r>
              <a:rPr sz="2800" dirty="0"/>
              <a:t>Customers: </a:t>
            </a:r>
            <a:r>
              <a:rPr sz="2800" dirty="0" err="1"/>
              <a:t>customer_id</a:t>
            </a:r>
            <a:r>
              <a:rPr sz="2800" dirty="0"/>
              <a:t>, name, location</a:t>
            </a:r>
          </a:p>
          <a:p>
            <a:r>
              <a:rPr sz="2800" dirty="0"/>
              <a:t>Products: </a:t>
            </a:r>
            <a:r>
              <a:rPr sz="2800" dirty="0" err="1"/>
              <a:t>product_id</a:t>
            </a:r>
            <a:r>
              <a:rPr sz="2800" dirty="0"/>
              <a:t>, name, category, price</a:t>
            </a:r>
          </a:p>
          <a:p>
            <a:r>
              <a:rPr sz="2800" dirty="0"/>
              <a:t>Orders: </a:t>
            </a:r>
            <a:r>
              <a:rPr sz="2800" dirty="0" err="1"/>
              <a:t>order_id</a:t>
            </a:r>
            <a:r>
              <a:rPr sz="2800" dirty="0"/>
              <a:t>, </a:t>
            </a:r>
            <a:r>
              <a:rPr sz="2800" dirty="0" err="1"/>
              <a:t>order_date</a:t>
            </a:r>
            <a:r>
              <a:rPr sz="2800" dirty="0"/>
              <a:t>, </a:t>
            </a:r>
            <a:r>
              <a:rPr sz="2800" dirty="0" err="1"/>
              <a:t>customer_id</a:t>
            </a:r>
            <a:r>
              <a:rPr sz="2800" dirty="0"/>
              <a:t>, </a:t>
            </a:r>
            <a:r>
              <a:rPr sz="2800" dirty="0" err="1"/>
              <a:t>total_amount</a:t>
            </a:r>
            <a:endParaRPr sz="2800" dirty="0"/>
          </a:p>
          <a:p>
            <a:r>
              <a:rPr sz="2800" dirty="0" err="1"/>
              <a:t>OrderDetails</a:t>
            </a:r>
            <a:r>
              <a:rPr sz="2800" dirty="0"/>
              <a:t>: </a:t>
            </a:r>
            <a:r>
              <a:rPr sz="2800" dirty="0" err="1"/>
              <a:t>order_id</a:t>
            </a:r>
            <a:r>
              <a:rPr sz="2800" dirty="0"/>
              <a:t>, </a:t>
            </a:r>
            <a:r>
              <a:rPr sz="2800" dirty="0" err="1"/>
              <a:t>product_id</a:t>
            </a:r>
            <a:r>
              <a:rPr sz="2800" dirty="0"/>
              <a:t>, quantity, </a:t>
            </a:r>
            <a:r>
              <a:rPr sz="2800" dirty="0" err="1"/>
              <a:t>price_per_unit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3641" y="918820"/>
            <a:ext cx="6571343" cy="1049235"/>
          </a:xfrm>
        </p:spPr>
        <p:txBody>
          <a:bodyPr>
            <a:normAutofit fontScale="90000"/>
          </a:bodyPr>
          <a:lstStyle/>
          <a:p>
            <a:r>
              <a:rPr sz="3600" dirty="0"/>
              <a:t>Methodology &amp; SQL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7" y="2415783"/>
            <a:ext cx="6571343" cy="3450613"/>
          </a:xfrm>
        </p:spPr>
        <p:txBody>
          <a:bodyPr>
            <a:normAutofit fontScale="92500" lnSpcReduction="20000"/>
          </a:bodyPr>
          <a:lstStyle/>
          <a:p>
            <a:r>
              <a:rPr sz="2800" dirty="0"/>
              <a:t>Joined relational tables using primary and foreign keys</a:t>
            </a:r>
          </a:p>
          <a:p>
            <a:r>
              <a:rPr sz="2800" dirty="0"/>
              <a:t>Used CTEs for structured and readable queries</a:t>
            </a:r>
          </a:p>
          <a:p>
            <a:r>
              <a:rPr sz="2800" dirty="0"/>
              <a:t>Applied window functions for MoM analysis</a:t>
            </a:r>
          </a:p>
          <a:p>
            <a:r>
              <a:rPr sz="2800" dirty="0"/>
              <a:t>Calculated KPIs using aggregations and distinct counts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9366" y="837515"/>
            <a:ext cx="6571343" cy="1049235"/>
          </a:xfrm>
        </p:spPr>
        <p:txBody>
          <a:bodyPr>
            <a:normAutofit/>
          </a:bodyPr>
          <a:lstStyle/>
          <a:p>
            <a:r>
              <a:rPr sz="4000" dirty="0"/>
              <a:t>Top Customer 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7" y="1853755"/>
            <a:ext cx="6571343" cy="3450613"/>
          </a:xfrm>
        </p:spPr>
        <p:txBody>
          <a:bodyPr>
            <a:normAutofit/>
          </a:bodyPr>
          <a:lstStyle/>
          <a:p>
            <a:r>
              <a:rPr sz="2400" dirty="0"/>
              <a:t>Delhi, Chennai, and Jaipur have the highest customer concentration</a:t>
            </a:r>
          </a:p>
          <a:p>
            <a:r>
              <a:rPr sz="2400" dirty="0"/>
              <a:t>These cities are key markets for targeted marketing</a:t>
            </a:r>
          </a:p>
          <a:p>
            <a:r>
              <a:rPr sz="2400" dirty="0"/>
              <a:t>Logistics optimization can improve delivery efficiency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3F745-70C7-4421-8397-1D357C605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985" y="5148194"/>
            <a:ext cx="2543530" cy="9812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657" y="512384"/>
            <a:ext cx="6571343" cy="1049235"/>
          </a:xfrm>
        </p:spPr>
        <p:txBody>
          <a:bodyPr>
            <a:normAutofit fontScale="90000"/>
          </a:bodyPr>
          <a:lstStyle/>
          <a:p>
            <a:r>
              <a:rPr sz="3600" dirty="0"/>
              <a:t>Customer Engagement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1241" y="1703693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Most customers place a low number of orders</a:t>
            </a:r>
          </a:p>
          <a:p>
            <a:r>
              <a:rPr sz="2600" dirty="0"/>
              <a:t>Customer count decreases as order frequency increases</a:t>
            </a:r>
          </a:p>
          <a:p>
            <a:r>
              <a:rPr sz="2600" dirty="0"/>
              <a:t>Indicates dominance of occasional shoppers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5E500-B9EA-4EA6-BC3B-6C4958B0D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570" y="4678508"/>
            <a:ext cx="2921773" cy="1893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656" y="827990"/>
            <a:ext cx="6571343" cy="1049235"/>
          </a:xfrm>
        </p:spPr>
        <p:txBody>
          <a:bodyPr>
            <a:normAutofit fontScale="90000"/>
          </a:bodyPr>
          <a:lstStyle/>
          <a:p>
            <a:r>
              <a:rPr sz="4000" dirty="0"/>
              <a:t>Premium Product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5" y="1958583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Identified products with average purchase quantity of 2</a:t>
            </a:r>
          </a:p>
          <a:p>
            <a:r>
              <a:rPr sz="2600" dirty="0"/>
              <a:t>Product </a:t>
            </a:r>
            <a:r>
              <a:rPr lang="en-US" sz="2600" dirty="0"/>
              <a:t>1</a:t>
            </a:r>
            <a:r>
              <a:rPr sz="2600" dirty="0"/>
              <a:t> generates the highest total revenue</a:t>
            </a:r>
          </a:p>
          <a:p>
            <a:r>
              <a:rPr sz="2600" dirty="0"/>
              <a:t>Represents premium, high-value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4E4DB-17B6-4A27-A3C6-0C4D1A7D5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708" y="4666142"/>
            <a:ext cx="4553167" cy="10894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2216" y="728320"/>
            <a:ext cx="6571343" cy="1049235"/>
          </a:xfrm>
        </p:spPr>
        <p:txBody>
          <a:bodyPr>
            <a:normAutofit fontScale="90000"/>
          </a:bodyPr>
          <a:lstStyle/>
          <a:p>
            <a:r>
              <a:rPr sz="3600" dirty="0"/>
              <a:t>Category-Level Customer 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7" y="2040741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Electronics category has the highest unique customer count</a:t>
            </a:r>
          </a:p>
          <a:p>
            <a:r>
              <a:rPr sz="2600" dirty="0"/>
              <a:t>Indicates strong demand and wide appeal</a:t>
            </a:r>
          </a:p>
          <a:p>
            <a:r>
              <a:rPr sz="2600" dirty="0"/>
              <a:t>Should be prioritized in inventory and promotions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D6B8D-3721-4F29-AEF7-1EAE70C84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217" y="5038853"/>
            <a:ext cx="3378701" cy="11714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9841" y="802465"/>
            <a:ext cx="6571343" cy="1049235"/>
          </a:xfrm>
        </p:spPr>
        <p:txBody>
          <a:bodyPr>
            <a:normAutofit/>
          </a:bodyPr>
          <a:lstStyle/>
          <a:p>
            <a:r>
              <a:rPr sz="3600" dirty="0"/>
              <a:t>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6" y="1703693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February shows the largest decline in sales</a:t>
            </a:r>
          </a:p>
          <a:p>
            <a:r>
              <a:rPr sz="2600" dirty="0"/>
              <a:t>Sales fluctuated between March and August</a:t>
            </a:r>
          </a:p>
          <a:p>
            <a:r>
              <a:rPr sz="2600" dirty="0"/>
              <a:t>Indicates seasonality and unstable growth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3F3F4-88E6-4B0D-85D0-B185ECD8A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777" y="3694292"/>
            <a:ext cx="3105098" cy="29200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655" y="571500"/>
            <a:ext cx="6571343" cy="1049235"/>
          </a:xfrm>
        </p:spPr>
        <p:txBody>
          <a:bodyPr>
            <a:normAutofit/>
          </a:bodyPr>
          <a:lstStyle/>
          <a:p>
            <a:r>
              <a:rPr sz="3600" dirty="0"/>
              <a:t>Average Order Value (AOV)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4" y="1467703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December has the highest increase in AOV</a:t>
            </a:r>
          </a:p>
          <a:p>
            <a:r>
              <a:rPr sz="2600" dirty="0"/>
              <a:t>Likely driven by festive demand and promotions</a:t>
            </a:r>
          </a:p>
          <a:p>
            <a:r>
              <a:rPr sz="2600" dirty="0"/>
              <a:t>Pricing strategies can be replicated in other months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220B6-98A9-4770-A95D-ABA59E6F7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0" y="3813052"/>
            <a:ext cx="3219232" cy="28070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657" y="808940"/>
            <a:ext cx="6571343" cy="1049235"/>
          </a:xfrm>
        </p:spPr>
        <p:txBody>
          <a:bodyPr>
            <a:normAutofit/>
          </a:bodyPr>
          <a:lstStyle/>
          <a:p>
            <a:r>
              <a:rPr sz="3600" dirty="0"/>
              <a:t>Inventory Turnover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6" y="2015733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Product ID 7 has the highest sales frequency</a:t>
            </a:r>
          </a:p>
          <a:p>
            <a:r>
              <a:rPr sz="2600" dirty="0"/>
              <a:t>Indicates high demand and fast inventory turnover</a:t>
            </a:r>
          </a:p>
          <a:p>
            <a:r>
              <a:rPr sz="2600" dirty="0"/>
              <a:t>Requires frequent restocking to avoid stockouts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9B5BB-8D07-4053-92AD-E3D8C1A36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353" y="4677274"/>
            <a:ext cx="2865206" cy="1666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657" y="1009018"/>
            <a:ext cx="6571343" cy="1049235"/>
          </a:xfrm>
        </p:spPr>
        <p:txBody>
          <a:bodyPr>
            <a:normAutofit/>
          </a:bodyPr>
          <a:lstStyle/>
          <a:p>
            <a:r>
              <a:rPr sz="3600" dirty="0"/>
              <a:t>Low Adoption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6" y="2060644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Smartphones and Wireless Earbuds purchased by &lt;40% customers</a:t>
            </a:r>
          </a:p>
          <a:p>
            <a:r>
              <a:rPr sz="2600" dirty="0"/>
              <a:t>Indicates low customer penetration</a:t>
            </a:r>
          </a:p>
          <a:p>
            <a:r>
              <a:rPr sz="2600" dirty="0"/>
              <a:t>Targeted marketing campaigns recommended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83573-4D8C-41C5-963D-81E8311A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431" y="4842795"/>
            <a:ext cx="5419994" cy="10061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0766" y="633070"/>
            <a:ext cx="6571343" cy="1049235"/>
          </a:xfrm>
        </p:spPr>
        <p:txBody>
          <a:bodyPr>
            <a:normAutofit/>
          </a:bodyPr>
          <a:lstStyle/>
          <a:p>
            <a:r>
              <a:rPr sz="3600" dirty="0"/>
              <a:t>Customer Growth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0765" y="1491805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Month-on-month new customer growth is declining</a:t>
            </a:r>
          </a:p>
          <a:p>
            <a:r>
              <a:rPr sz="2600" dirty="0"/>
              <a:t>Marketing campaigns may be less effective</a:t>
            </a:r>
          </a:p>
          <a:p>
            <a:r>
              <a:rPr sz="2600" dirty="0"/>
              <a:t>Requires optimization of acquisition strategies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E20FA-AD4B-4FE0-B5AD-7D9547859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369" y="3865904"/>
            <a:ext cx="2991267" cy="27054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657" y="867036"/>
            <a:ext cx="6571343" cy="1049235"/>
          </a:xfrm>
        </p:spPr>
        <p:txBody>
          <a:bodyPr>
            <a:normAutofit/>
          </a:bodyPr>
          <a:lstStyle/>
          <a:p>
            <a:r>
              <a:rPr sz="3600" dirty="0"/>
              <a:t>Peak Sales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6" y="1916271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September and December record the highest sales volume</a:t>
            </a:r>
          </a:p>
          <a:p>
            <a:r>
              <a:rPr sz="2600" dirty="0"/>
              <a:t>Advance inventory and staffing required</a:t>
            </a:r>
          </a:p>
          <a:p>
            <a:r>
              <a:rPr sz="2600" dirty="0"/>
              <a:t>Marketing spend should align with peak demand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77034-88FC-49DF-B807-0E7C19F68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924" y="4923909"/>
            <a:ext cx="2429002" cy="11889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8416" y="867036"/>
            <a:ext cx="6571343" cy="1049235"/>
          </a:xfrm>
        </p:spPr>
        <p:txBody>
          <a:bodyPr>
            <a:normAutofit/>
          </a:bodyPr>
          <a:lstStyle/>
          <a:p>
            <a:r>
              <a:rPr sz="3600"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657" y="2091933"/>
            <a:ext cx="6571343" cy="3450613"/>
          </a:xfrm>
        </p:spPr>
        <p:txBody>
          <a:bodyPr>
            <a:noAutofit/>
          </a:bodyPr>
          <a:lstStyle/>
          <a:p>
            <a:r>
              <a:rPr sz="2600" dirty="0"/>
              <a:t>Strong regional and category-level demand patterns identified</a:t>
            </a:r>
          </a:p>
          <a:p>
            <a:r>
              <a:rPr sz="2600" dirty="0"/>
              <a:t>Premium products contribute significantly to revenue</a:t>
            </a:r>
          </a:p>
          <a:p>
            <a:r>
              <a:rPr sz="2600" dirty="0"/>
              <a:t>Customer retention and acquisition need improvement</a:t>
            </a:r>
          </a:p>
          <a:p>
            <a:r>
              <a:rPr sz="2600" dirty="0"/>
              <a:t>Clear seasonality impacts sales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5591" y="966498"/>
            <a:ext cx="6571343" cy="1049235"/>
          </a:xfrm>
        </p:spPr>
        <p:txBody>
          <a:bodyPr>
            <a:normAutofit/>
          </a:bodyPr>
          <a:lstStyle/>
          <a:p>
            <a:r>
              <a:rPr sz="3600" dirty="0"/>
              <a:t>Project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3166" y="2110983"/>
            <a:ext cx="6571343" cy="3450613"/>
          </a:xfrm>
        </p:spPr>
        <p:txBody>
          <a:bodyPr>
            <a:normAutofit/>
          </a:bodyPr>
          <a:lstStyle/>
          <a:p>
            <a:r>
              <a:rPr sz="2600" dirty="0"/>
              <a:t>Full SQL queries available in GitHub repository</a:t>
            </a:r>
          </a:p>
          <a:p>
            <a:r>
              <a:rPr sz="2600" dirty="0"/>
              <a:t>Includes CTEs, window functions, and aggregations</a:t>
            </a:r>
          </a:p>
          <a:p>
            <a:r>
              <a:rPr sz="2600" dirty="0"/>
              <a:t>Project demonstrates SQL-driven business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293</TotalTime>
  <Words>425</Words>
  <Application>Microsoft Office PowerPoint</Application>
  <PresentationFormat>On-screen Show (4:3)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E-Commerce Sales &amp; Customer Analytics (SQL Case Study)</vt:lpstr>
      <vt:lpstr>Business Context</vt:lpstr>
      <vt:lpstr>Dataset Overview</vt:lpstr>
      <vt:lpstr>Methodology &amp; SQL Techniques</vt:lpstr>
      <vt:lpstr>Top Customer Cities</vt:lpstr>
      <vt:lpstr>Customer Engagement Analysis</vt:lpstr>
      <vt:lpstr>Premium Product Trends</vt:lpstr>
      <vt:lpstr>Category-Level Customer Reach</vt:lpstr>
      <vt:lpstr>Sales Trend Analysis</vt:lpstr>
      <vt:lpstr>Average Order Value (AOV)</vt:lpstr>
      <vt:lpstr>Inventory Turnover</vt:lpstr>
      <vt:lpstr>Low Adoption Products</vt:lpstr>
      <vt:lpstr>Customer Growth Trend</vt:lpstr>
      <vt:lpstr>Peak Sales Months</vt:lpstr>
      <vt:lpstr>Key Takeaways</vt:lpstr>
      <vt:lpstr>Project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&amp; Customer Analytics (SQL Case Study)</dc:title>
  <dc:subject/>
  <dc:creator>ASUS</dc:creator>
  <cp:keywords/>
  <dc:description>generated using python-pptx</dc:description>
  <cp:lastModifiedBy>ASUS</cp:lastModifiedBy>
  <cp:revision>3</cp:revision>
  <dcterms:created xsi:type="dcterms:W3CDTF">2013-01-27T09:14:16Z</dcterms:created>
  <dcterms:modified xsi:type="dcterms:W3CDTF">2026-04-30T16:11:31Z</dcterms:modified>
  <cp:category/>
</cp:coreProperties>
</file>